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92" r:id="rId5"/>
    <p:sldId id="299" r:id="rId6"/>
    <p:sldId id="297" r:id="rId7"/>
    <p:sldId id="261" r:id="rId8"/>
    <p:sldId id="298" r:id="rId9"/>
    <p:sldId id="279" r:id="rId10"/>
    <p:sldId id="276" r:id="rId11"/>
    <p:sldId id="293" r:id="rId12"/>
    <p:sldId id="301" r:id="rId13"/>
    <p:sldId id="295" r:id="rId14"/>
    <p:sldId id="28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39" autoAdjust="0"/>
  </p:normalViewPr>
  <p:slideViewPr>
    <p:cSldViewPr snapToGrid="0" showGuides="1">
      <p:cViewPr varScale="1">
        <p:scale>
          <a:sx n="105" d="100"/>
          <a:sy n="105" d="100"/>
        </p:scale>
        <p:origin x="834" y="10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BlockTimelineDefaultColorVariant">
  <dgm:title val="Block Timeline Default Color Variant"/>
  <dgm:desc val="Block Timeline Default Color Variant"/>
  <dgm:catLst>
    <dgm:cat type="Other" pri="2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31F601-7D4D-4461-B798-D62B1831AD3B}" type="doc">
      <dgm:prSet loTypeId="urn:microsoft.com/office/officeart/2024/3/layout/BlockTimeline" loCatId="Timeline" qsTypeId="urn:microsoft.com/office/officeart/2005/8/quickstyle/simple1" qsCatId="simple" csTypeId="urn:microsoft.com/office/officeart/2005/8/colors/BlockTimelineDefaultColorVariant" csCatId="other" phldr="1"/>
      <dgm:spPr/>
      <dgm:t>
        <a:bodyPr/>
        <a:lstStyle/>
        <a:p>
          <a:endParaRPr lang="en-US"/>
        </a:p>
      </dgm:t>
    </dgm:pt>
    <dgm:pt modelId="{FE7FD6F5-A8A1-4E72-BFDA-3A6EAE5F6354}">
      <dgm:prSet/>
      <dgm:spPr/>
      <dgm:t>
        <a:bodyPr/>
        <a:lstStyle/>
        <a:p>
          <a:pPr>
            <a:defRPr b="1"/>
          </a:pPr>
          <a:r>
            <a:rPr lang="en-US" dirty="0"/>
            <a:t>Discovery</a:t>
          </a:r>
        </a:p>
      </dgm:t>
    </dgm:pt>
    <dgm:pt modelId="{2CFEA3D7-4723-410D-A159-3F781D47740A}" type="parTrans" cxnId="{AD29DB32-E0D0-4129-9A19-7204AE8645DA}">
      <dgm:prSet/>
      <dgm:spPr/>
      <dgm:t>
        <a:bodyPr/>
        <a:lstStyle/>
        <a:p>
          <a:endParaRPr lang="en-US"/>
        </a:p>
      </dgm:t>
    </dgm:pt>
    <dgm:pt modelId="{1B1E423E-3AA8-43AD-BD78-4C04D9F0F47C}" type="sibTrans" cxnId="{AD29DB32-E0D0-4129-9A19-7204AE8645DA}">
      <dgm:prSet/>
      <dgm:spPr/>
      <dgm:t>
        <a:bodyPr/>
        <a:lstStyle/>
        <a:p>
          <a:endParaRPr lang="en-US"/>
        </a:p>
      </dgm:t>
    </dgm:pt>
    <dgm:pt modelId="{C6FEFE34-751A-45B2-AC29-924A77B4B3C3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Identify current IT Glue usage, credential ownership, active credentials, dependencies, and access requirements.</a:t>
          </a:r>
        </a:p>
      </dgm:t>
    </dgm:pt>
    <dgm:pt modelId="{52A18772-D038-4256-ACFB-11F6F86195A4}" type="parTrans" cxnId="{84C5F984-80B1-4E0E-B1F3-E795C8CE076A}">
      <dgm:prSet/>
      <dgm:spPr/>
      <dgm:t>
        <a:bodyPr/>
        <a:lstStyle/>
        <a:p>
          <a:endParaRPr lang="en-US"/>
        </a:p>
      </dgm:t>
    </dgm:pt>
    <dgm:pt modelId="{4AB311A1-6401-49F8-898D-F375F34A453F}" type="sibTrans" cxnId="{84C5F984-80B1-4E0E-B1F3-E795C8CE076A}">
      <dgm:prSet/>
      <dgm:spPr/>
      <dgm:t>
        <a:bodyPr/>
        <a:lstStyle/>
        <a:p>
          <a:endParaRPr lang="en-US"/>
        </a:p>
      </dgm:t>
    </dgm:pt>
    <dgm:pt modelId="{360BA097-7367-4D1B-8A97-293E4F2099A0}">
      <dgm:prSet/>
      <dgm:spPr/>
      <dgm:t>
        <a:bodyPr/>
        <a:lstStyle/>
        <a:p>
          <a:pPr>
            <a:defRPr b="1"/>
          </a:pPr>
          <a:r>
            <a:rPr lang="en-US" dirty="0"/>
            <a:t>Data Preparation</a:t>
          </a:r>
        </a:p>
      </dgm:t>
    </dgm:pt>
    <dgm:pt modelId="{0E4216F3-C1E7-4BF1-B009-876F17CCDBBC}" type="parTrans" cxnId="{B5841320-BCC3-4000-8843-90E9FCDC26A0}">
      <dgm:prSet/>
      <dgm:spPr/>
      <dgm:t>
        <a:bodyPr/>
        <a:lstStyle/>
        <a:p>
          <a:endParaRPr lang="en-US"/>
        </a:p>
      </dgm:t>
    </dgm:pt>
    <dgm:pt modelId="{59A6DFC9-4E04-4519-8D1C-317CD0F1D54B}" type="sibTrans" cxnId="{B5841320-BCC3-4000-8843-90E9FCDC26A0}">
      <dgm:prSet/>
      <dgm:spPr/>
      <dgm:t>
        <a:bodyPr/>
        <a:lstStyle/>
        <a:p>
          <a:endParaRPr lang="en-US"/>
        </a:p>
      </dgm:t>
    </dgm:pt>
    <dgm:pt modelId="{773039EA-BEB9-4653-82FA-35608494EFBC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Export credentials in controlled groups, remove outdated or duplicate information, and prepare the data for the approved </a:t>
          </a:r>
          <a:r>
            <a:rPr lang="en-US" dirty="0" err="1">
              <a:solidFill>
                <a:schemeClr val="bg1"/>
              </a:solidFill>
            </a:rPr>
            <a:t>Bitwarden</a:t>
          </a:r>
          <a:r>
            <a:rPr lang="en-US" dirty="0">
              <a:solidFill>
                <a:schemeClr val="bg1"/>
              </a:solidFill>
            </a:rPr>
            <a:t> import format.</a:t>
          </a:r>
        </a:p>
      </dgm:t>
    </dgm:pt>
    <dgm:pt modelId="{312653C4-1BE9-4734-A9E3-D77C5F0E85EE}" type="parTrans" cxnId="{43D781BA-1F56-4D0B-BB9B-8C5D85596FEF}">
      <dgm:prSet/>
      <dgm:spPr/>
      <dgm:t>
        <a:bodyPr/>
        <a:lstStyle/>
        <a:p>
          <a:endParaRPr lang="en-US"/>
        </a:p>
      </dgm:t>
    </dgm:pt>
    <dgm:pt modelId="{7A1142EA-D7EF-49DC-81C6-8A82EB979E78}" type="sibTrans" cxnId="{43D781BA-1F56-4D0B-BB9B-8C5D85596FEF}">
      <dgm:prSet/>
      <dgm:spPr/>
      <dgm:t>
        <a:bodyPr/>
        <a:lstStyle/>
        <a:p>
          <a:endParaRPr lang="en-US"/>
        </a:p>
      </dgm:t>
    </dgm:pt>
    <dgm:pt modelId="{2C135949-CB47-4B09-B22D-599FBB151FC9}">
      <dgm:prSet/>
      <dgm:spPr/>
      <dgm:t>
        <a:bodyPr/>
        <a:lstStyle/>
        <a:p>
          <a:pPr>
            <a:defRPr b="1"/>
          </a:pPr>
          <a:r>
            <a:rPr lang="en-US" dirty="0"/>
            <a:t>Pilot</a:t>
          </a:r>
        </a:p>
      </dgm:t>
    </dgm:pt>
    <dgm:pt modelId="{294658B3-E95D-4B02-9642-27CBCB4CF229}" type="parTrans" cxnId="{3BED924A-6245-48AF-B106-4F7D4DD5E233}">
      <dgm:prSet/>
      <dgm:spPr/>
      <dgm:t>
        <a:bodyPr/>
        <a:lstStyle/>
        <a:p>
          <a:endParaRPr lang="en-US"/>
        </a:p>
      </dgm:t>
    </dgm:pt>
    <dgm:pt modelId="{AC7AFC95-515F-4BE0-95CF-0AB4DA2DA691}" type="sibTrans" cxnId="{3BED924A-6245-48AF-B106-4F7D4DD5E233}">
      <dgm:prSet/>
      <dgm:spPr/>
      <dgm:t>
        <a:bodyPr/>
        <a:lstStyle/>
        <a:p>
          <a:endParaRPr lang="en-US"/>
        </a:p>
      </dgm:t>
    </dgm:pt>
    <dgm:pt modelId="{B9410EE2-5DC5-4F89-82E7-37B8DA432BE8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Migrate a limited group of organizations or credential categories. Validate credentials, permissions, onboarding/offboarding workflows, and user experience.</a:t>
          </a:r>
        </a:p>
      </dgm:t>
    </dgm:pt>
    <dgm:pt modelId="{81178497-348C-4B3D-9543-6DEFC626DB1D}" type="parTrans" cxnId="{FA96325F-45EA-4B5C-B65A-B13CBFB844C4}">
      <dgm:prSet/>
      <dgm:spPr/>
      <dgm:t>
        <a:bodyPr/>
        <a:lstStyle/>
        <a:p>
          <a:endParaRPr lang="en-US"/>
        </a:p>
      </dgm:t>
    </dgm:pt>
    <dgm:pt modelId="{453DF842-1F59-468C-92E0-FF298A6E53D8}" type="sibTrans" cxnId="{FA96325F-45EA-4B5C-B65A-B13CBFB844C4}">
      <dgm:prSet/>
      <dgm:spPr/>
      <dgm:t>
        <a:bodyPr/>
        <a:lstStyle/>
        <a:p>
          <a:endParaRPr lang="en-US"/>
        </a:p>
      </dgm:t>
    </dgm:pt>
    <dgm:pt modelId="{439D4B00-9AEE-42BE-B477-2F95D70D2899}">
      <dgm:prSet/>
      <dgm:spPr/>
      <dgm:t>
        <a:bodyPr/>
        <a:lstStyle/>
        <a:p>
          <a:pPr>
            <a:defRPr b="1"/>
          </a:pPr>
          <a:r>
            <a:rPr lang="en-US" dirty="0"/>
            <a:t>Production Migration</a:t>
          </a:r>
        </a:p>
      </dgm:t>
    </dgm:pt>
    <dgm:pt modelId="{8A891D2E-D3B0-48B5-B9F3-81AF08E86790}" type="parTrans" cxnId="{7F8D6DF6-E855-48EE-BC28-F6CF64EAF07A}">
      <dgm:prSet/>
      <dgm:spPr/>
      <dgm:t>
        <a:bodyPr/>
        <a:lstStyle/>
        <a:p>
          <a:endParaRPr lang="en-US"/>
        </a:p>
      </dgm:t>
    </dgm:pt>
    <dgm:pt modelId="{811127EE-6700-48D4-9C19-4D1334BF4335}" type="sibTrans" cxnId="{7F8D6DF6-E855-48EE-BC28-F6CF64EAF07A}">
      <dgm:prSet/>
      <dgm:spPr/>
      <dgm:t>
        <a:bodyPr/>
        <a:lstStyle/>
        <a:p>
          <a:endParaRPr lang="en-US"/>
        </a:p>
      </dgm:t>
    </dgm:pt>
    <dgm:pt modelId="{B4808673-1227-4636-BBC2-B416A97AEE54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Migrate remaining approved credentials in controlled batches with validation after each stage.</a:t>
          </a:r>
        </a:p>
      </dgm:t>
    </dgm:pt>
    <dgm:pt modelId="{7A659D23-8E5D-4530-A8B1-B50D981AE38E}" type="parTrans" cxnId="{1E185751-A26F-48A0-B9BC-FE1CC1D59284}">
      <dgm:prSet/>
      <dgm:spPr/>
      <dgm:t>
        <a:bodyPr/>
        <a:lstStyle/>
        <a:p>
          <a:endParaRPr lang="en-US"/>
        </a:p>
      </dgm:t>
    </dgm:pt>
    <dgm:pt modelId="{CC9A5769-6636-4A61-9E88-600FB0191E85}" type="sibTrans" cxnId="{1E185751-A26F-48A0-B9BC-FE1CC1D59284}">
      <dgm:prSet/>
      <dgm:spPr/>
      <dgm:t>
        <a:bodyPr/>
        <a:lstStyle/>
        <a:p>
          <a:endParaRPr lang="en-US"/>
        </a:p>
      </dgm:t>
    </dgm:pt>
    <dgm:pt modelId="{C73B274B-0687-4D0A-8D6D-4F0EE9923573}">
      <dgm:prSet/>
      <dgm:spPr/>
      <dgm:t>
        <a:bodyPr/>
        <a:lstStyle/>
        <a:p>
          <a:pPr>
            <a:defRPr b="1"/>
          </a:pPr>
          <a:r>
            <a:rPr lang="en-US" dirty="0"/>
            <a:t>Decommissioning</a:t>
          </a:r>
        </a:p>
      </dgm:t>
    </dgm:pt>
    <dgm:pt modelId="{AC83AF6A-405F-4568-B4FF-08EEB464CE75}" type="parTrans" cxnId="{5885DC0F-5C86-4E8B-8D6C-B9B2D2877FE4}">
      <dgm:prSet/>
      <dgm:spPr/>
      <dgm:t>
        <a:bodyPr/>
        <a:lstStyle/>
        <a:p>
          <a:endParaRPr lang="en-US"/>
        </a:p>
      </dgm:t>
    </dgm:pt>
    <dgm:pt modelId="{C834825E-AE7B-4B20-A4F1-10B53B7AC7FE}" type="sibTrans" cxnId="{5885DC0F-5C86-4E8B-8D6C-B9B2D2877FE4}">
      <dgm:prSet/>
      <dgm:spPr/>
      <dgm:t>
        <a:bodyPr/>
        <a:lstStyle/>
        <a:p>
          <a:endParaRPr lang="en-US"/>
        </a:p>
      </dgm:t>
    </dgm:pt>
    <dgm:pt modelId="{4EE5A772-A64A-4E8B-B9BF-1FD6E23037B3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After all required credentials and workflows have been validated and appropriate stakeholders approve the change, securely remove migration data and retire IT Glue password-management functionality.</a:t>
          </a:r>
        </a:p>
      </dgm:t>
    </dgm:pt>
    <dgm:pt modelId="{33BD0629-CD89-4A84-913D-DB1756C97B39}" type="parTrans" cxnId="{C3BDB847-333F-4783-B150-2F73A96DA0AA}">
      <dgm:prSet/>
      <dgm:spPr/>
      <dgm:t>
        <a:bodyPr/>
        <a:lstStyle/>
        <a:p>
          <a:endParaRPr lang="en-US"/>
        </a:p>
      </dgm:t>
    </dgm:pt>
    <dgm:pt modelId="{9EF2EA0F-4511-4C54-BADC-F1D4A1655CB7}" type="sibTrans" cxnId="{C3BDB847-333F-4783-B150-2F73A96DA0AA}">
      <dgm:prSet/>
      <dgm:spPr/>
      <dgm:t>
        <a:bodyPr/>
        <a:lstStyle/>
        <a:p>
          <a:endParaRPr lang="en-US"/>
        </a:p>
      </dgm:t>
    </dgm:pt>
    <dgm:pt modelId="{7661304D-BFCC-4FBB-9E7A-A1DD10A6A31F}" type="pres">
      <dgm:prSet presAssocID="{1D31F601-7D4D-4461-B798-D62B1831AD3B}" presName="Name0" presStyleCnt="0">
        <dgm:presLayoutVars>
          <dgm:chMax/>
          <dgm:chPref/>
          <dgm:animLvl val="lvl"/>
        </dgm:presLayoutVars>
      </dgm:prSet>
      <dgm:spPr/>
    </dgm:pt>
    <dgm:pt modelId="{7E617676-E906-48B4-94CA-BAC194A9CB99}" type="pres">
      <dgm:prSet presAssocID="{FE7FD6F5-A8A1-4E72-BFDA-3A6EAE5F6354}" presName="composite" presStyleCnt="0"/>
      <dgm:spPr/>
    </dgm:pt>
    <dgm:pt modelId="{EBE87BB7-22F1-4D66-BFF6-0504D95A0B1E}" type="pres">
      <dgm:prSet presAssocID="{FE7FD6F5-A8A1-4E72-BFDA-3A6EAE5F6354}" presName="Parent1" presStyleLbl="alignNode1" presStyleIdx="0" presStyleCnt="5">
        <dgm:presLayoutVars>
          <dgm:chMax val="1"/>
          <dgm:chPref val="1"/>
          <dgm:bulletEnabled val="1"/>
        </dgm:presLayoutVars>
      </dgm:prSet>
      <dgm:spPr/>
    </dgm:pt>
    <dgm:pt modelId="{C9C0D698-69C0-43AF-900D-A3846052629C}" type="pres">
      <dgm:prSet presAssocID="{FE7FD6F5-A8A1-4E72-BFDA-3A6EAE5F6354}" presName="Childtext1" presStyleLbl="revTx" presStyleIdx="0" presStyleCnt="5">
        <dgm:presLayoutVars>
          <dgm:chMax val="0"/>
          <dgm:chPref val="0"/>
          <dgm:bulletEnabled/>
        </dgm:presLayoutVars>
      </dgm:prSet>
      <dgm:spPr/>
    </dgm:pt>
    <dgm:pt modelId="{EEB63901-1759-432F-BFA2-82CD7014B420}" type="pres">
      <dgm:prSet presAssocID="{FE7FD6F5-A8A1-4E72-BFDA-3A6EAE5F6354}" presName="ConnectLine" presStyleLbl="sibTrans1D1" presStyleIdx="0" presStyleCnt="5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70E5214B-138F-45F6-BEEB-29EB5A42C86A}" type="pres">
      <dgm:prSet presAssocID="{FE7FD6F5-A8A1-4E72-BFDA-3A6EAE5F6354}" presName="EmptyPane" presStyleCnt="0"/>
      <dgm:spPr/>
    </dgm:pt>
    <dgm:pt modelId="{681B84A5-355F-4014-9EA8-FC1676C3F0AD}" type="pres">
      <dgm:prSet presAssocID="{1B1E423E-3AA8-43AD-BD78-4C04D9F0F47C}" presName="spaceBetweenRectangles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789DAF6-B2DD-4E89-8691-ADB083FDEE90}" type="pres">
      <dgm:prSet presAssocID="{360BA097-7367-4D1B-8A97-293E4F2099A0}" presName="composite" presStyleCnt="0"/>
      <dgm:spPr/>
    </dgm:pt>
    <dgm:pt modelId="{199DC318-55D7-413A-AFE9-4A6692B6E772}" type="pres">
      <dgm:prSet presAssocID="{360BA097-7367-4D1B-8A97-293E4F2099A0}" presName="Parent1" presStyleLbl="alignNode1" presStyleIdx="1" presStyleCnt="5">
        <dgm:presLayoutVars>
          <dgm:chMax val="1"/>
          <dgm:chPref val="1"/>
          <dgm:bulletEnabled val="1"/>
        </dgm:presLayoutVars>
      </dgm:prSet>
      <dgm:spPr/>
    </dgm:pt>
    <dgm:pt modelId="{234379BD-7FEB-455B-AF1A-C5837BA99D17}" type="pres">
      <dgm:prSet presAssocID="{360BA097-7367-4D1B-8A97-293E4F2099A0}" presName="Childtext1" presStyleLbl="revTx" presStyleIdx="1" presStyleCnt="5">
        <dgm:presLayoutVars>
          <dgm:chMax val="0"/>
          <dgm:chPref val="0"/>
          <dgm:bulletEnabled/>
        </dgm:presLayoutVars>
      </dgm:prSet>
      <dgm:spPr/>
    </dgm:pt>
    <dgm:pt modelId="{2BE3C7BA-A708-44D7-B9B1-2B8D55B60D3C}" type="pres">
      <dgm:prSet presAssocID="{360BA097-7367-4D1B-8A97-293E4F2099A0}" presName="ConnectLine" presStyleLbl="sibTrans1D1" presStyleIdx="1" presStyleCnt="5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5083A60A-EB44-4457-8A83-85897B70A399}" type="pres">
      <dgm:prSet presAssocID="{360BA097-7367-4D1B-8A97-293E4F2099A0}" presName="EmptyPane" presStyleCnt="0"/>
      <dgm:spPr/>
    </dgm:pt>
    <dgm:pt modelId="{E114AFA1-0C6A-4387-9ADC-D7E5A8CFD678}" type="pres">
      <dgm:prSet presAssocID="{59A6DFC9-4E04-4519-8D1C-317CD0F1D54B}" presName="spaceBetweenRectangles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B371F2FF-E663-469E-8F90-57458792E310}" type="pres">
      <dgm:prSet presAssocID="{2C135949-CB47-4B09-B22D-599FBB151FC9}" presName="composite" presStyleCnt="0"/>
      <dgm:spPr/>
    </dgm:pt>
    <dgm:pt modelId="{DD2F5AE8-3C3C-45C4-8E08-78BC5525ED60}" type="pres">
      <dgm:prSet presAssocID="{2C135949-CB47-4B09-B22D-599FBB151FC9}" presName="Parent1" presStyleLbl="alignNode1" presStyleIdx="2" presStyleCnt="5">
        <dgm:presLayoutVars>
          <dgm:chMax val="1"/>
          <dgm:chPref val="1"/>
          <dgm:bulletEnabled val="1"/>
        </dgm:presLayoutVars>
      </dgm:prSet>
      <dgm:spPr/>
    </dgm:pt>
    <dgm:pt modelId="{A8C7F581-C6C0-4BA5-9FC7-7F4FEBB4DB3F}" type="pres">
      <dgm:prSet presAssocID="{2C135949-CB47-4B09-B22D-599FBB151FC9}" presName="Childtext1" presStyleLbl="revTx" presStyleIdx="2" presStyleCnt="5">
        <dgm:presLayoutVars>
          <dgm:chMax val="0"/>
          <dgm:chPref val="0"/>
          <dgm:bulletEnabled/>
        </dgm:presLayoutVars>
      </dgm:prSet>
      <dgm:spPr/>
    </dgm:pt>
    <dgm:pt modelId="{F4BAEAA8-ADF2-4FC1-A734-7715E3DEE940}" type="pres">
      <dgm:prSet presAssocID="{2C135949-CB47-4B09-B22D-599FBB151FC9}" presName="ConnectLine" presStyleLbl="sibTrans1D1" presStyleIdx="2" presStyleCnt="5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8C2AF194-37B6-45E0-A8F6-259BEC40604B}" type="pres">
      <dgm:prSet presAssocID="{2C135949-CB47-4B09-B22D-599FBB151FC9}" presName="EmptyPane" presStyleCnt="0"/>
      <dgm:spPr/>
    </dgm:pt>
    <dgm:pt modelId="{39F9DD1A-6457-4205-BD9B-57E82E882CDA}" type="pres">
      <dgm:prSet presAssocID="{AC7AFC95-515F-4BE0-95CF-0AB4DA2DA691}" presName="spaceBetweenRectangles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EF79DFF1-A33C-4A8D-A9BA-104781F9F64F}" type="pres">
      <dgm:prSet presAssocID="{439D4B00-9AEE-42BE-B477-2F95D70D2899}" presName="composite" presStyleCnt="0"/>
      <dgm:spPr/>
    </dgm:pt>
    <dgm:pt modelId="{A5AA872E-6752-4D13-85C8-470DF2431C95}" type="pres">
      <dgm:prSet presAssocID="{439D4B00-9AEE-42BE-B477-2F95D70D2899}" presName="Parent1" presStyleLbl="alignNode1" presStyleIdx="3" presStyleCnt="5">
        <dgm:presLayoutVars>
          <dgm:chMax val="1"/>
          <dgm:chPref val="1"/>
          <dgm:bulletEnabled val="1"/>
        </dgm:presLayoutVars>
      </dgm:prSet>
      <dgm:spPr/>
    </dgm:pt>
    <dgm:pt modelId="{280DEE0C-A985-4A6B-8B05-FDECBA7C4EDA}" type="pres">
      <dgm:prSet presAssocID="{439D4B00-9AEE-42BE-B477-2F95D70D2899}" presName="Childtext1" presStyleLbl="revTx" presStyleIdx="3" presStyleCnt="5">
        <dgm:presLayoutVars>
          <dgm:chMax val="0"/>
          <dgm:chPref val="0"/>
          <dgm:bulletEnabled/>
        </dgm:presLayoutVars>
      </dgm:prSet>
      <dgm:spPr/>
    </dgm:pt>
    <dgm:pt modelId="{8F0BD6DA-4093-47DF-B5EE-58C72EF0CD0F}" type="pres">
      <dgm:prSet presAssocID="{439D4B00-9AEE-42BE-B477-2F95D70D2899}" presName="ConnectLine" presStyleLbl="sibTrans1D1" presStyleIdx="3" presStyleCnt="5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07FCC1D1-E183-4A29-9425-34ABA672D880}" type="pres">
      <dgm:prSet presAssocID="{439D4B00-9AEE-42BE-B477-2F95D70D2899}" presName="EmptyPane" presStyleCnt="0"/>
      <dgm:spPr/>
    </dgm:pt>
    <dgm:pt modelId="{C57201F5-876C-4B1E-8869-8A8660978DD7}" type="pres">
      <dgm:prSet presAssocID="{811127EE-6700-48D4-9C19-4D1334BF4335}" presName="spaceBetweenRectangles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4F1C4CDF-EC3C-4091-8BDF-F179FAE01784}" type="pres">
      <dgm:prSet presAssocID="{C73B274B-0687-4D0A-8D6D-4F0EE9923573}" presName="composite" presStyleCnt="0"/>
      <dgm:spPr/>
    </dgm:pt>
    <dgm:pt modelId="{C844E32F-5450-42B8-8A1A-E94D396AF16F}" type="pres">
      <dgm:prSet presAssocID="{C73B274B-0687-4D0A-8D6D-4F0EE9923573}" presName="Parent1" presStyleLbl="alignNode1" presStyleIdx="4" presStyleCnt="5">
        <dgm:presLayoutVars>
          <dgm:chMax val="1"/>
          <dgm:chPref val="1"/>
          <dgm:bulletEnabled val="1"/>
        </dgm:presLayoutVars>
      </dgm:prSet>
      <dgm:spPr/>
    </dgm:pt>
    <dgm:pt modelId="{84DFA55A-6FE4-4ECC-906D-CA7F6583811B}" type="pres">
      <dgm:prSet presAssocID="{C73B274B-0687-4D0A-8D6D-4F0EE9923573}" presName="Childtext1" presStyleLbl="revTx" presStyleIdx="4" presStyleCnt="5">
        <dgm:presLayoutVars>
          <dgm:chMax val="0"/>
          <dgm:chPref val="0"/>
          <dgm:bulletEnabled/>
        </dgm:presLayoutVars>
      </dgm:prSet>
      <dgm:spPr/>
    </dgm:pt>
    <dgm:pt modelId="{29B25459-B3FC-426C-94E0-154A27C1CCB8}" type="pres">
      <dgm:prSet presAssocID="{C73B274B-0687-4D0A-8D6D-4F0EE9923573}" presName="ConnectLine" presStyleLbl="sibTrans1D1" presStyleIdx="4" presStyleCnt="5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7CADD626-2863-4C60-93CA-74ED1C8280A4}" type="pres">
      <dgm:prSet presAssocID="{C73B274B-0687-4D0A-8D6D-4F0EE9923573}" presName="EmptyPane" presStyleCnt="0"/>
      <dgm:spPr/>
    </dgm:pt>
  </dgm:ptLst>
  <dgm:cxnLst>
    <dgm:cxn modelId="{5885DC0F-5C86-4E8B-8D6C-B9B2D2877FE4}" srcId="{1D31F601-7D4D-4461-B798-D62B1831AD3B}" destId="{C73B274B-0687-4D0A-8D6D-4F0EE9923573}" srcOrd="4" destOrd="0" parTransId="{AC83AF6A-405F-4568-B4FF-08EEB464CE75}" sibTransId="{C834825E-AE7B-4B20-A4F1-10B53B7AC7FE}"/>
    <dgm:cxn modelId="{B5841320-BCC3-4000-8843-90E9FCDC26A0}" srcId="{1D31F601-7D4D-4461-B798-D62B1831AD3B}" destId="{360BA097-7367-4D1B-8A97-293E4F2099A0}" srcOrd="1" destOrd="0" parTransId="{0E4216F3-C1E7-4BF1-B009-876F17CCDBBC}" sibTransId="{59A6DFC9-4E04-4519-8D1C-317CD0F1D54B}"/>
    <dgm:cxn modelId="{AD29DB32-E0D0-4129-9A19-7204AE8645DA}" srcId="{1D31F601-7D4D-4461-B798-D62B1831AD3B}" destId="{FE7FD6F5-A8A1-4E72-BFDA-3A6EAE5F6354}" srcOrd="0" destOrd="0" parTransId="{2CFEA3D7-4723-410D-A159-3F781D47740A}" sibTransId="{1B1E423E-3AA8-43AD-BD78-4C04D9F0F47C}"/>
    <dgm:cxn modelId="{FA96325F-45EA-4B5C-B65A-B13CBFB844C4}" srcId="{2C135949-CB47-4B09-B22D-599FBB151FC9}" destId="{B9410EE2-5DC5-4F89-82E7-37B8DA432BE8}" srcOrd="0" destOrd="0" parTransId="{81178497-348C-4B3D-9543-6DEFC626DB1D}" sibTransId="{453DF842-1F59-468C-92E0-FF298A6E53D8}"/>
    <dgm:cxn modelId="{90A80763-C3E5-44D8-9FB3-517487EB7DE9}" type="presOf" srcId="{2C135949-CB47-4B09-B22D-599FBB151FC9}" destId="{DD2F5AE8-3C3C-45C4-8E08-78BC5525ED60}" srcOrd="0" destOrd="0" presId="urn:microsoft.com/office/officeart/2024/3/layout/BlockTimeline"/>
    <dgm:cxn modelId="{C3BDB847-333F-4783-B150-2F73A96DA0AA}" srcId="{C73B274B-0687-4D0A-8D6D-4F0EE9923573}" destId="{4EE5A772-A64A-4E8B-B9BF-1FD6E23037B3}" srcOrd="0" destOrd="0" parTransId="{33BD0629-CD89-4A84-913D-DB1756C97B39}" sibTransId="{9EF2EA0F-4511-4C54-BADC-F1D4A1655CB7}"/>
    <dgm:cxn modelId="{FF93354A-340E-4AA4-932C-021F8BBEC317}" type="presOf" srcId="{439D4B00-9AEE-42BE-B477-2F95D70D2899}" destId="{A5AA872E-6752-4D13-85C8-470DF2431C95}" srcOrd="0" destOrd="0" presId="urn:microsoft.com/office/officeart/2024/3/layout/BlockTimeline"/>
    <dgm:cxn modelId="{3BED924A-6245-48AF-B106-4F7D4DD5E233}" srcId="{1D31F601-7D4D-4461-B798-D62B1831AD3B}" destId="{2C135949-CB47-4B09-B22D-599FBB151FC9}" srcOrd="2" destOrd="0" parTransId="{294658B3-E95D-4B02-9642-27CBCB4CF229}" sibTransId="{AC7AFC95-515F-4BE0-95CF-0AB4DA2DA691}"/>
    <dgm:cxn modelId="{486FE86E-A199-4ECB-AF76-9C5DE53CFD75}" type="presOf" srcId="{FE7FD6F5-A8A1-4E72-BFDA-3A6EAE5F6354}" destId="{EBE87BB7-22F1-4D66-BFF6-0504D95A0B1E}" srcOrd="0" destOrd="0" presId="urn:microsoft.com/office/officeart/2024/3/layout/BlockTimeline"/>
    <dgm:cxn modelId="{1E185751-A26F-48A0-B9BC-FE1CC1D59284}" srcId="{439D4B00-9AEE-42BE-B477-2F95D70D2899}" destId="{B4808673-1227-4636-BBC2-B416A97AEE54}" srcOrd="0" destOrd="0" parTransId="{7A659D23-8E5D-4530-A8B1-B50D981AE38E}" sibTransId="{CC9A5769-6636-4A61-9E88-600FB0191E85}"/>
    <dgm:cxn modelId="{EBD5137C-C522-403F-8586-3BD25E7F0C43}" type="presOf" srcId="{B4808673-1227-4636-BBC2-B416A97AEE54}" destId="{280DEE0C-A985-4A6B-8B05-FDECBA7C4EDA}" srcOrd="0" destOrd="0" presId="urn:microsoft.com/office/officeart/2024/3/layout/BlockTimeline"/>
    <dgm:cxn modelId="{98928A80-9D8F-4920-9F87-6C5DA45284F4}" type="presOf" srcId="{B9410EE2-5DC5-4F89-82E7-37B8DA432BE8}" destId="{A8C7F581-C6C0-4BA5-9FC7-7F4FEBB4DB3F}" srcOrd="0" destOrd="0" presId="urn:microsoft.com/office/officeart/2024/3/layout/BlockTimeline"/>
    <dgm:cxn modelId="{84C5F984-80B1-4E0E-B1F3-E795C8CE076A}" srcId="{FE7FD6F5-A8A1-4E72-BFDA-3A6EAE5F6354}" destId="{C6FEFE34-751A-45B2-AC29-924A77B4B3C3}" srcOrd="0" destOrd="0" parTransId="{52A18772-D038-4256-ACFB-11F6F86195A4}" sibTransId="{4AB311A1-6401-49F8-898D-F375F34A453F}"/>
    <dgm:cxn modelId="{07E8628F-35E1-4AB4-AD09-4114D100FB7E}" type="presOf" srcId="{1D31F601-7D4D-4461-B798-D62B1831AD3B}" destId="{7661304D-BFCC-4FBB-9E7A-A1DD10A6A31F}" srcOrd="0" destOrd="0" presId="urn:microsoft.com/office/officeart/2024/3/layout/BlockTimeline"/>
    <dgm:cxn modelId="{9EF3D194-F044-4181-950A-48E38C04D425}" type="presOf" srcId="{773039EA-BEB9-4653-82FA-35608494EFBC}" destId="{234379BD-7FEB-455B-AF1A-C5837BA99D17}" srcOrd="0" destOrd="0" presId="urn:microsoft.com/office/officeart/2024/3/layout/BlockTimeline"/>
    <dgm:cxn modelId="{43D781BA-1F56-4D0B-BB9B-8C5D85596FEF}" srcId="{360BA097-7367-4D1B-8A97-293E4F2099A0}" destId="{773039EA-BEB9-4653-82FA-35608494EFBC}" srcOrd="0" destOrd="0" parTransId="{312653C4-1BE9-4734-A9E3-D77C5F0E85EE}" sibTransId="{7A1142EA-D7EF-49DC-81C6-8A82EB979E78}"/>
    <dgm:cxn modelId="{BBF4D1C3-F9A8-4EC6-8475-B7D96E1A1C52}" type="presOf" srcId="{360BA097-7367-4D1B-8A97-293E4F2099A0}" destId="{199DC318-55D7-413A-AFE9-4A6692B6E772}" srcOrd="0" destOrd="0" presId="urn:microsoft.com/office/officeart/2024/3/layout/BlockTimeline"/>
    <dgm:cxn modelId="{1BE125CA-7104-43A0-B3B2-D4D15EFB398A}" type="presOf" srcId="{C6FEFE34-751A-45B2-AC29-924A77B4B3C3}" destId="{C9C0D698-69C0-43AF-900D-A3846052629C}" srcOrd="0" destOrd="0" presId="urn:microsoft.com/office/officeart/2024/3/layout/BlockTimeline"/>
    <dgm:cxn modelId="{B5D283E0-3C36-4BF9-9700-B1907F88EF86}" type="presOf" srcId="{4EE5A772-A64A-4E8B-B9BF-1FD6E23037B3}" destId="{84DFA55A-6FE4-4ECC-906D-CA7F6583811B}" srcOrd="0" destOrd="0" presId="urn:microsoft.com/office/officeart/2024/3/layout/BlockTimeline"/>
    <dgm:cxn modelId="{6512C6EF-38C7-4A04-BE89-83BCDAE9C67E}" type="presOf" srcId="{C73B274B-0687-4D0A-8D6D-4F0EE9923573}" destId="{C844E32F-5450-42B8-8A1A-E94D396AF16F}" srcOrd="0" destOrd="0" presId="urn:microsoft.com/office/officeart/2024/3/layout/BlockTimeline"/>
    <dgm:cxn modelId="{7F8D6DF6-E855-48EE-BC28-F6CF64EAF07A}" srcId="{1D31F601-7D4D-4461-B798-D62B1831AD3B}" destId="{439D4B00-9AEE-42BE-B477-2F95D70D2899}" srcOrd="3" destOrd="0" parTransId="{8A891D2E-D3B0-48B5-B9F3-81AF08E86790}" sibTransId="{811127EE-6700-48D4-9C19-4D1334BF4335}"/>
    <dgm:cxn modelId="{9AFF46FE-6474-430B-8609-888186B28F5E}" type="presParOf" srcId="{7661304D-BFCC-4FBB-9E7A-A1DD10A6A31F}" destId="{7E617676-E906-48B4-94CA-BAC194A9CB99}" srcOrd="0" destOrd="0" presId="urn:microsoft.com/office/officeart/2024/3/layout/BlockTimeline"/>
    <dgm:cxn modelId="{51086ABB-B666-4B8A-A0A2-F13C25AAEE51}" type="presParOf" srcId="{7E617676-E906-48B4-94CA-BAC194A9CB99}" destId="{EBE87BB7-22F1-4D66-BFF6-0504D95A0B1E}" srcOrd="0" destOrd="0" presId="urn:microsoft.com/office/officeart/2024/3/layout/BlockTimeline"/>
    <dgm:cxn modelId="{76A90DCC-E10D-4309-A0AE-F46D83F812BF}" type="presParOf" srcId="{7E617676-E906-48B4-94CA-BAC194A9CB99}" destId="{C9C0D698-69C0-43AF-900D-A3846052629C}" srcOrd="1" destOrd="0" presId="urn:microsoft.com/office/officeart/2024/3/layout/BlockTimeline"/>
    <dgm:cxn modelId="{D9C431B3-4AA2-4407-AD26-0AA825ED9819}" type="presParOf" srcId="{7E617676-E906-48B4-94CA-BAC194A9CB99}" destId="{EEB63901-1759-432F-BFA2-82CD7014B420}" srcOrd="2" destOrd="0" presId="urn:microsoft.com/office/officeart/2024/3/layout/BlockTimeline"/>
    <dgm:cxn modelId="{B792351B-8AAC-4E0D-AECF-67674F82843B}" type="presParOf" srcId="{7E617676-E906-48B4-94CA-BAC194A9CB99}" destId="{70E5214B-138F-45F6-BEEB-29EB5A42C86A}" srcOrd="3" destOrd="0" presId="urn:microsoft.com/office/officeart/2024/3/layout/BlockTimeline"/>
    <dgm:cxn modelId="{F5930A9A-7BE3-4FEA-A0D1-137C43EA0C89}" type="presParOf" srcId="{7661304D-BFCC-4FBB-9E7A-A1DD10A6A31F}" destId="{681B84A5-355F-4014-9EA8-FC1676C3F0AD}" srcOrd="1" destOrd="0" presId="urn:microsoft.com/office/officeart/2024/3/layout/BlockTimeline"/>
    <dgm:cxn modelId="{ACDF6A48-E6A1-49EF-B9C8-A27B50D87BE7}" type="presParOf" srcId="{7661304D-BFCC-4FBB-9E7A-A1DD10A6A31F}" destId="{6789DAF6-B2DD-4E89-8691-ADB083FDEE90}" srcOrd="2" destOrd="0" presId="urn:microsoft.com/office/officeart/2024/3/layout/BlockTimeline"/>
    <dgm:cxn modelId="{9FF442EA-5794-4456-826E-2EAFB94A5253}" type="presParOf" srcId="{6789DAF6-B2DD-4E89-8691-ADB083FDEE90}" destId="{199DC318-55D7-413A-AFE9-4A6692B6E772}" srcOrd="0" destOrd="0" presId="urn:microsoft.com/office/officeart/2024/3/layout/BlockTimeline"/>
    <dgm:cxn modelId="{CAC86899-A89B-44CB-AA0C-4DBAA7ECC286}" type="presParOf" srcId="{6789DAF6-B2DD-4E89-8691-ADB083FDEE90}" destId="{234379BD-7FEB-455B-AF1A-C5837BA99D17}" srcOrd="1" destOrd="0" presId="urn:microsoft.com/office/officeart/2024/3/layout/BlockTimeline"/>
    <dgm:cxn modelId="{DBEF8D66-6637-470C-922F-6555B5E85F6C}" type="presParOf" srcId="{6789DAF6-B2DD-4E89-8691-ADB083FDEE90}" destId="{2BE3C7BA-A708-44D7-B9B1-2B8D55B60D3C}" srcOrd="2" destOrd="0" presId="urn:microsoft.com/office/officeart/2024/3/layout/BlockTimeline"/>
    <dgm:cxn modelId="{436BB820-0CD5-4580-B306-56720E7184CF}" type="presParOf" srcId="{6789DAF6-B2DD-4E89-8691-ADB083FDEE90}" destId="{5083A60A-EB44-4457-8A83-85897B70A399}" srcOrd="3" destOrd="0" presId="urn:microsoft.com/office/officeart/2024/3/layout/BlockTimeline"/>
    <dgm:cxn modelId="{6762379C-8ED8-4FB5-8BA8-F368B48A2496}" type="presParOf" srcId="{7661304D-BFCC-4FBB-9E7A-A1DD10A6A31F}" destId="{E114AFA1-0C6A-4387-9ADC-D7E5A8CFD678}" srcOrd="3" destOrd="0" presId="urn:microsoft.com/office/officeart/2024/3/layout/BlockTimeline"/>
    <dgm:cxn modelId="{E08D14CA-E1BC-4BEB-9D68-E59D5E9C3F03}" type="presParOf" srcId="{7661304D-BFCC-4FBB-9E7A-A1DD10A6A31F}" destId="{B371F2FF-E663-469E-8F90-57458792E310}" srcOrd="4" destOrd="0" presId="urn:microsoft.com/office/officeart/2024/3/layout/BlockTimeline"/>
    <dgm:cxn modelId="{6EEB8D8D-700D-403E-8329-EFA30C2804AC}" type="presParOf" srcId="{B371F2FF-E663-469E-8F90-57458792E310}" destId="{DD2F5AE8-3C3C-45C4-8E08-78BC5525ED60}" srcOrd="0" destOrd="0" presId="urn:microsoft.com/office/officeart/2024/3/layout/BlockTimeline"/>
    <dgm:cxn modelId="{A966C3E7-4A19-476F-BB62-461067B8FC11}" type="presParOf" srcId="{B371F2FF-E663-469E-8F90-57458792E310}" destId="{A8C7F581-C6C0-4BA5-9FC7-7F4FEBB4DB3F}" srcOrd="1" destOrd="0" presId="urn:microsoft.com/office/officeart/2024/3/layout/BlockTimeline"/>
    <dgm:cxn modelId="{0392DDDF-3C91-4B3D-9C62-4D44DDF1E450}" type="presParOf" srcId="{B371F2FF-E663-469E-8F90-57458792E310}" destId="{F4BAEAA8-ADF2-4FC1-A734-7715E3DEE940}" srcOrd="2" destOrd="0" presId="urn:microsoft.com/office/officeart/2024/3/layout/BlockTimeline"/>
    <dgm:cxn modelId="{D428545D-6797-4E72-B461-12B805D3FE89}" type="presParOf" srcId="{B371F2FF-E663-469E-8F90-57458792E310}" destId="{8C2AF194-37B6-45E0-A8F6-259BEC40604B}" srcOrd="3" destOrd="0" presId="urn:microsoft.com/office/officeart/2024/3/layout/BlockTimeline"/>
    <dgm:cxn modelId="{C2F0EF8E-DC69-4496-BEE7-5DFB799A6010}" type="presParOf" srcId="{7661304D-BFCC-4FBB-9E7A-A1DD10A6A31F}" destId="{39F9DD1A-6457-4205-BD9B-57E82E882CDA}" srcOrd="5" destOrd="0" presId="urn:microsoft.com/office/officeart/2024/3/layout/BlockTimeline"/>
    <dgm:cxn modelId="{4B29612C-02D6-418A-B875-6FEBE926B161}" type="presParOf" srcId="{7661304D-BFCC-4FBB-9E7A-A1DD10A6A31F}" destId="{EF79DFF1-A33C-4A8D-A9BA-104781F9F64F}" srcOrd="6" destOrd="0" presId="urn:microsoft.com/office/officeart/2024/3/layout/BlockTimeline"/>
    <dgm:cxn modelId="{3A8FCE9B-5901-4BE0-A229-2409C7B394DA}" type="presParOf" srcId="{EF79DFF1-A33C-4A8D-A9BA-104781F9F64F}" destId="{A5AA872E-6752-4D13-85C8-470DF2431C95}" srcOrd="0" destOrd="0" presId="urn:microsoft.com/office/officeart/2024/3/layout/BlockTimeline"/>
    <dgm:cxn modelId="{527DD550-9ABF-4A56-9E88-5E57F6F56A09}" type="presParOf" srcId="{EF79DFF1-A33C-4A8D-A9BA-104781F9F64F}" destId="{280DEE0C-A985-4A6B-8B05-FDECBA7C4EDA}" srcOrd="1" destOrd="0" presId="urn:microsoft.com/office/officeart/2024/3/layout/BlockTimeline"/>
    <dgm:cxn modelId="{3BD53E80-D492-49B6-AE30-DCB50666733C}" type="presParOf" srcId="{EF79DFF1-A33C-4A8D-A9BA-104781F9F64F}" destId="{8F0BD6DA-4093-47DF-B5EE-58C72EF0CD0F}" srcOrd="2" destOrd="0" presId="urn:microsoft.com/office/officeart/2024/3/layout/BlockTimeline"/>
    <dgm:cxn modelId="{CA0FC8C1-93C1-430F-B62F-D2A59E22D8A3}" type="presParOf" srcId="{EF79DFF1-A33C-4A8D-A9BA-104781F9F64F}" destId="{07FCC1D1-E183-4A29-9425-34ABA672D880}" srcOrd="3" destOrd="0" presId="urn:microsoft.com/office/officeart/2024/3/layout/BlockTimeline"/>
    <dgm:cxn modelId="{FC022709-01A1-40A0-8676-F5F20413A656}" type="presParOf" srcId="{7661304D-BFCC-4FBB-9E7A-A1DD10A6A31F}" destId="{C57201F5-876C-4B1E-8869-8A8660978DD7}" srcOrd="7" destOrd="0" presId="urn:microsoft.com/office/officeart/2024/3/layout/BlockTimeline"/>
    <dgm:cxn modelId="{B0FA9ABE-C49A-4BC8-B49B-015A77C5B6CE}" type="presParOf" srcId="{7661304D-BFCC-4FBB-9E7A-A1DD10A6A31F}" destId="{4F1C4CDF-EC3C-4091-8BDF-F179FAE01784}" srcOrd="8" destOrd="0" presId="urn:microsoft.com/office/officeart/2024/3/layout/BlockTimeline"/>
    <dgm:cxn modelId="{D76FB962-3B5A-45A7-A07B-CD1064A3C274}" type="presParOf" srcId="{4F1C4CDF-EC3C-4091-8BDF-F179FAE01784}" destId="{C844E32F-5450-42B8-8A1A-E94D396AF16F}" srcOrd="0" destOrd="0" presId="urn:microsoft.com/office/officeart/2024/3/layout/BlockTimeline"/>
    <dgm:cxn modelId="{4EE34CDF-E4DD-4BE0-B261-79FEE0C29B0B}" type="presParOf" srcId="{4F1C4CDF-EC3C-4091-8BDF-F179FAE01784}" destId="{84DFA55A-6FE4-4ECC-906D-CA7F6583811B}" srcOrd="1" destOrd="0" presId="urn:microsoft.com/office/officeart/2024/3/layout/BlockTimeline"/>
    <dgm:cxn modelId="{BB8003F7-9F2A-4B1D-88E3-A02D76FD0AD9}" type="presParOf" srcId="{4F1C4CDF-EC3C-4091-8BDF-F179FAE01784}" destId="{29B25459-B3FC-426C-94E0-154A27C1CCB8}" srcOrd="2" destOrd="0" presId="urn:microsoft.com/office/officeart/2024/3/layout/BlockTimeline"/>
    <dgm:cxn modelId="{EDF32F40-DC92-40C0-BF48-DC2BFFD0965D}" type="presParOf" srcId="{4F1C4CDF-EC3C-4091-8BDF-F179FAE01784}" destId="{7CADD626-2863-4C60-93CA-74ED1C8280A4}" srcOrd="3" destOrd="0" presId="urn:microsoft.com/office/officeart/2024/3/layout/Block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E87BB7-22F1-4D66-BFF6-0504D95A0B1E}">
      <dsp:nvSpPr>
        <dsp:cNvPr id="0" name=""/>
        <dsp:cNvSpPr/>
      </dsp:nvSpPr>
      <dsp:spPr>
        <a:xfrm>
          <a:off x="285365" y="1247241"/>
          <a:ext cx="1461220" cy="3401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000" kern="1200" dirty="0"/>
            <a:t>Discovery</a:t>
          </a:r>
        </a:p>
      </dsp:txBody>
      <dsp:txXfrm>
        <a:off x="301970" y="1263846"/>
        <a:ext cx="1428010" cy="306946"/>
      </dsp:txXfrm>
    </dsp:sp>
    <dsp:sp modelId="{C9C0D698-69C0-43AF-900D-A3846052629C}">
      <dsp:nvSpPr>
        <dsp:cNvPr id="0" name=""/>
        <dsp:cNvSpPr/>
      </dsp:nvSpPr>
      <dsp:spPr>
        <a:xfrm>
          <a:off x="1238" y="0"/>
          <a:ext cx="2029472" cy="907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1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bg1"/>
              </a:solidFill>
            </a:rPr>
            <a:t>Identify current IT Glue usage, credential ownership, active credentials, dependencies, and access requirements.</a:t>
          </a:r>
        </a:p>
      </dsp:txBody>
      <dsp:txXfrm>
        <a:off x="1238" y="0"/>
        <a:ext cx="2029472" cy="907084"/>
      </dsp:txXfrm>
    </dsp:sp>
    <dsp:sp modelId="{681B84A5-355F-4014-9EA8-FC1676C3F0AD}">
      <dsp:nvSpPr>
        <dsp:cNvPr id="0" name=""/>
        <dsp:cNvSpPr/>
      </dsp:nvSpPr>
      <dsp:spPr>
        <a:xfrm>
          <a:off x="1746585" y="1417320"/>
          <a:ext cx="56825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68252" y="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B63901-1759-432F-BFA2-82CD7014B420}">
      <dsp:nvSpPr>
        <dsp:cNvPr id="0" name=""/>
        <dsp:cNvSpPr/>
      </dsp:nvSpPr>
      <dsp:spPr>
        <a:xfrm>
          <a:off x="1015975" y="963777"/>
          <a:ext cx="0" cy="283464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9DC318-55D7-413A-AFE9-4A6692B6E772}">
      <dsp:nvSpPr>
        <dsp:cNvPr id="0" name=""/>
        <dsp:cNvSpPr/>
      </dsp:nvSpPr>
      <dsp:spPr>
        <a:xfrm>
          <a:off x="2314837" y="1247241"/>
          <a:ext cx="1461220" cy="3401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000" kern="1200" dirty="0"/>
            <a:t>Data Preparation</a:t>
          </a:r>
        </a:p>
      </dsp:txBody>
      <dsp:txXfrm>
        <a:off x="2331442" y="1263846"/>
        <a:ext cx="1428010" cy="306946"/>
      </dsp:txXfrm>
    </dsp:sp>
    <dsp:sp modelId="{234379BD-7FEB-455B-AF1A-C5837BA99D17}">
      <dsp:nvSpPr>
        <dsp:cNvPr id="0" name=""/>
        <dsp:cNvSpPr/>
      </dsp:nvSpPr>
      <dsp:spPr>
        <a:xfrm>
          <a:off x="2030711" y="1927555"/>
          <a:ext cx="2029472" cy="907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1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bg1"/>
              </a:solidFill>
            </a:rPr>
            <a:t>Export credentials in controlled groups, remove outdated or duplicate information, and prepare the data for the approved </a:t>
          </a:r>
          <a:r>
            <a:rPr lang="en-US" sz="1000" kern="1200" dirty="0" err="1">
              <a:solidFill>
                <a:schemeClr val="bg1"/>
              </a:solidFill>
            </a:rPr>
            <a:t>Bitwarden</a:t>
          </a:r>
          <a:r>
            <a:rPr lang="en-US" sz="1000" kern="1200" dirty="0">
              <a:solidFill>
                <a:schemeClr val="bg1"/>
              </a:solidFill>
            </a:rPr>
            <a:t> import format.</a:t>
          </a:r>
        </a:p>
      </dsp:txBody>
      <dsp:txXfrm>
        <a:off x="2030711" y="1927555"/>
        <a:ext cx="2029472" cy="907084"/>
      </dsp:txXfrm>
    </dsp:sp>
    <dsp:sp modelId="{E114AFA1-0C6A-4387-9ADC-D7E5A8CFD678}">
      <dsp:nvSpPr>
        <dsp:cNvPr id="0" name=""/>
        <dsp:cNvSpPr/>
      </dsp:nvSpPr>
      <dsp:spPr>
        <a:xfrm>
          <a:off x="3776057" y="1417320"/>
          <a:ext cx="56825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68252" y="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E3C7BA-A708-44D7-B9B1-2B8D55B60D3C}">
      <dsp:nvSpPr>
        <dsp:cNvPr id="0" name=""/>
        <dsp:cNvSpPr/>
      </dsp:nvSpPr>
      <dsp:spPr>
        <a:xfrm>
          <a:off x="3045447" y="1587398"/>
          <a:ext cx="0" cy="283464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2F5AE8-3C3C-45C4-8E08-78BC5525ED60}">
      <dsp:nvSpPr>
        <dsp:cNvPr id="0" name=""/>
        <dsp:cNvSpPr/>
      </dsp:nvSpPr>
      <dsp:spPr>
        <a:xfrm>
          <a:off x="4344309" y="1247241"/>
          <a:ext cx="1461220" cy="3401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000" kern="1200" dirty="0"/>
            <a:t>Pilot</a:t>
          </a:r>
        </a:p>
      </dsp:txBody>
      <dsp:txXfrm>
        <a:off x="4360914" y="1263846"/>
        <a:ext cx="1428010" cy="306946"/>
      </dsp:txXfrm>
    </dsp:sp>
    <dsp:sp modelId="{A8C7F581-C6C0-4BA5-9FC7-7F4FEBB4DB3F}">
      <dsp:nvSpPr>
        <dsp:cNvPr id="0" name=""/>
        <dsp:cNvSpPr/>
      </dsp:nvSpPr>
      <dsp:spPr>
        <a:xfrm>
          <a:off x="4060183" y="0"/>
          <a:ext cx="2029472" cy="907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1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bg1"/>
              </a:solidFill>
            </a:rPr>
            <a:t>Migrate a limited group of organizations or credential categories. Validate credentials, permissions, onboarding/offboarding workflows, and user experience.</a:t>
          </a:r>
        </a:p>
      </dsp:txBody>
      <dsp:txXfrm>
        <a:off x="4060183" y="0"/>
        <a:ext cx="2029472" cy="907084"/>
      </dsp:txXfrm>
    </dsp:sp>
    <dsp:sp modelId="{39F9DD1A-6457-4205-BD9B-57E82E882CDA}">
      <dsp:nvSpPr>
        <dsp:cNvPr id="0" name=""/>
        <dsp:cNvSpPr/>
      </dsp:nvSpPr>
      <dsp:spPr>
        <a:xfrm>
          <a:off x="5805530" y="1417319"/>
          <a:ext cx="56825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68252" y="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BAEAA8-ADF2-4FC1-A734-7715E3DEE940}">
      <dsp:nvSpPr>
        <dsp:cNvPr id="0" name=""/>
        <dsp:cNvSpPr/>
      </dsp:nvSpPr>
      <dsp:spPr>
        <a:xfrm>
          <a:off x="5074920" y="963777"/>
          <a:ext cx="0" cy="283464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AA872E-6752-4D13-85C8-470DF2431C95}">
      <dsp:nvSpPr>
        <dsp:cNvPr id="0" name=""/>
        <dsp:cNvSpPr/>
      </dsp:nvSpPr>
      <dsp:spPr>
        <a:xfrm>
          <a:off x="6373782" y="1247241"/>
          <a:ext cx="1461220" cy="3401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000" kern="1200" dirty="0"/>
            <a:t>Production Migration</a:t>
          </a:r>
        </a:p>
      </dsp:txBody>
      <dsp:txXfrm>
        <a:off x="6390387" y="1263846"/>
        <a:ext cx="1428010" cy="306946"/>
      </dsp:txXfrm>
    </dsp:sp>
    <dsp:sp modelId="{280DEE0C-A985-4A6B-8B05-FDECBA7C4EDA}">
      <dsp:nvSpPr>
        <dsp:cNvPr id="0" name=""/>
        <dsp:cNvSpPr/>
      </dsp:nvSpPr>
      <dsp:spPr>
        <a:xfrm>
          <a:off x="6089656" y="1927555"/>
          <a:ext cx="2029472" cy="907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1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bg1"/>
              </a:solidFill>
            </a:rPr>
            <a:t>Migrate remaining approved credentials in controlled batches with validation after each stage.</a:t>
          </a:r>
        </a:p>
      </dsp:txBody>
      <dsp:txXfrm>
        <a:off x="6089656" y="1927555"/>
        <a:ext cx="2029472" cy="907084"/>
      </dsp:txXfrm>
    </dsp:sp>
    <dsp:sp modelId="{C57201F5-876C-4B1E-8869-8A8660978DD7}">
      <dsp:nvSpPr>
        <dsp:cNvPr id="0" name=""/>
        <dsp:cNvSpPr/>
      </dsp:nvSpPr>
      <dsp:spPr>
        <a:xfrm>
          <a:off x="7835002" y="1417319"/>
          <a:ext cx="56825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68252" y="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0BD6DA-4093-47DF-B5EE-58C72EF0CD0F}">
      <dsp:nvSpPr>
        <dsp:cNvPr id="0" name=""/>
        <dsp:cNvSpPr/>
      </dsp:nvSpPr>
      <dsp:spPr>
        <a:xfrm>
          <a:off x="7104392" y="1587398"/>
          <a:ext cx="0" cy="283464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44E32F-5450-42B8-8A1A-E94D396AF16F}">
      <dsp:nvSpPr>
        <dsp:cNvPr id="0" name=""/>
        <dsp:cNvSpPr/>
      </dsp:nvSpPr>
      <dsp:spPr>
        <a:xfrm>
          <a:off x="8403254" y="1247241"/>
          <a:ext cx="1461220" cy="3401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000" kern="1200" dirty="0"/>
            <a:t>Decommissioning</a:t>
          </a:r>
        </a:p>
      </dsp:txBody>
      <dsp:txXfrm>
        <a:off x="8419859" y="1263846"/>
        <a:ext cx="1428010" cy="306946"/>
      </dsp:txXfrm>
    </dsp:sp>
    <dsp:sp modelId="{84DFA55A-6FE4-4ECC-906D-CA7F6583811B}">
      <dsp:nvSpPr>
        <dsp:cNvPr id="0" name=""/>
        <dsp:cNvSpPr/>
      </dsp:nvSpPr>
      <dsp:spPr>
        <a:xfrm>
          <a:off x="8119128" y="0"/>
          <a:ext cx="2029472" cy="907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1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bg1"/>
              </a:solidFill>
            </a:rPr>
            <a:t>After all required credentials and workflows have been validated and appropriate stakeholders approve the change, securely remove migration data and retire IT Glue password-management functionality.</a:t>
          </a:r>
        </a:p>
      </dsp:txBody>
      <dsp:txXfrm>
        <a:off x="8119128" y="0"/>
        <a:ext cx="2029472" cy="907084"/>
      </dsp:txXfrm>
    </dsp:sp>
    <dsp:sp modelId="{29B25459-B3FC-426C-94E0-154A27C1CCB8}">
      <dsp:nvSpPr>
        <dsp:cNvPr id="0" name=""/>
        <dsp:cNvSpPr/>
      </dsp:nvSpPr>
      <dsp:spPr>
        <a:xfrm>
          <a:off x="9133864" y="963777"/>
          <a:ext cx="0" cy="283464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BlockTimeline">
  <dgm:title val="Block Timeline"/>
  <dgm:desc val="Displays events in chronological order. Each event should have a date of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animLvl val="lvl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1" val="16"/>
      <dgm:constr type="primFontSz" for="des" forName="Childtext1" val="14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w" for="ch" forName="spaceBetweenRectangles" refType="w" fact="0"/>
      <dgm:constr type="h" for="ch" forName="spaceBetweenRectangles" refType="h" fact="0"/>
      <dgm:constr type="primFontSz" for="des" forName="Parent1" op="equ"/>
      <dgm:constr type="primFontSz" for="des" forName="Childtext1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casesForSnakingLogic">
          <dgm:if name="Name7" axis="self" ptType="node" func="posOdd" op="equ" val="1">
            <dgm:constrLst>
              <dgm:constr type="w" for="ch" forName="Parent1" refType="w" fact="0.72"/>
              <dgm:constr type="ctrY" for="ch" forName="Parent1" refType="h" fact="0.5"/>
              <dgm:constr type="h" for="ch" forName="Parent1" refType="h" fact="0.12"/>
              <dgm:constr type="l" for="ch" forName="Parent1" refType="w" fact="0.14"/>
              <dgm:constr type="w" for="ch" forName="Childtext1" refType="w"/>
              <dgm:constr type="h" for="ch" forName="Childtext1" refType="h" fact="0.32"/>
              <dgm:constr type="t" for="ch" forName="Childtext1" refType="h" fact="0"/>
              <dgm:constr type="w" for="ch" forName="ConnectLine"/>
              <dgm:constr type="h" for="ch" forName="ConnectLine" refType="h" fact="0.1"/>
              <dgm:constr type="b" for="ch" forName="ConnectLine" refType="t" refFor="ch" refForName="Parent1"/>
              <dgm:constr type="ctrX" for="ch" forName="ConnectLine" refType="w" fact="0.5"/>
              <dgm:constr type="w" for="ch" forName="EmptyPane" refType="w"/>
              <dgm:constr type="b" for="ch" forName="EmptyPane" refType="h"/>
              <dgm:constr type="h" for="ch" forName="EmptyPane" refType="h" fact="0.44"/>
            </dgm:constrLst>
          </dgm:if>
          <dgm:else name="Name8">
            <dgm:constrLst>
              <dgm:constr type="w" for="ch" forName="Parent1" refType="w" fact="0.72"/>
              <dgm:constr type="ctrY" for="ch" forName="Parent1" refType="h" fact="0.5"/>
              <dgm:constr type="h" for="ch" forName="Parent1" refType="h" fact="0.12"/>
              <dgm:constr type="l" for="ch" forName="Parent1" refType="w" fact="0.14"/>
              <dgm:constr type="w" for="ch" forName="Childtext1" refType="w"/>
              <dgm:constr type="h" for="ch" forName="Childtext1" refType="h" fact="0.32"/>
              <dgm:constr type="b" for="ch" forName="Childtext1" refType="h"/>
              <dgm:constr type="w" for="ch" forName="ConnectLine"/>
              <dgm:constr type="h" for="ch" forName="ConnectLine" refType="h" fact="0.1"/>
              <dgm:constr type="t" for="ch" forName="ConnectLine" refType="b" refFor="ch" refForName="Parent1"/>
              <dgm:constr type="ctrX" for="ch" forName="ConnectLine" refType="w" fact="0.5"/>
              <dgm:constr type="w" for="ch" forName="EmptyPane" refType="w"/>
              <dgm:constr type="h" for="ch" forName="EmptyPane" refType="h" fact="0.44"/>
            </dgm:constrLst>
          </dgm:else>
        </dgm:choose>
        <dgm:layoutNode name="Parent1" styleLbl="alignNode1">
          <dgm:varLst>
            <dgm:chMax val="1"/>
            <dgm:chPref val="1"/>
            <dgm:bulletEnabled val="1"/>
          </dgm:varLst>
          <dgm:alg type="tx"/>
          <dgm:choose name="casesForFirstAndLastNode">
            <dgm:if name="startNode" axis="self" ptType="node" func="pos" op="equ" val="1">
              <dgm:choose name="removeLineWhenOnlyOneNode">
                <dgm:if name="ifOnlyOneNode" axis="followSib" ptType="node" func="cnt" op="equ" val="0">
                  <dgm:shape xmlns:r="http://schemas.openxmlformats.org/officeDocument/2006/relationships" type="rect" r:blip="">
                    <dgm:adjLst/>
                  </dgm:shape>
                </dgm:if>
                <dgm:else name="ifMoreThanOneNode">
                  <dgm:choose name="Name18">
                    <dgm:if name="Name19" func="var" arg="dir" op="equ" val="norm">
                      <dgm:shape xmlns:r="http://schemas.openxmlformats.org/officeDocument/2006/relationships" type="roundRect" r:blip="">
                        <dgm:adjLst/>
                      </dgm:shape>
                    </dgm:if>
                    <dgm:else name="Name20">
                      <dgm:shape xmlns:r="http://schemas.openxmlformats.org/officeDocument/2006/relationships" type="roundRect" r:blip="">
                        <dgm:adjLst/>
                      </dgm:shape>
                    </dgm:else>
                  </dgm:choose>
                </dgm:else>
              </dgm:choose>
            </dgm:if>
            <dgm:else name="notStartNode">
              <dgm:choose name="Name22">
                <dgm:if name="Name23" axis="self" ptType="node" func="revPos" op="equ" val="1">
                  <dgm:choose name="Name24">
                    <dgm:if name="Name25" func="var" arg="dir" op="equ" val="norm">
                      <dgm:shape xmlns:r="http://schemas.openxmlformats.org/officeDocument/2006/relationships" type="roundRect" r:blip="">
                        <dgm:adjLst/>
                      </dgm:shape>
                    </dgm:if>
                    <dgm:else name="Name26">
                      <dgm:shape xmlns:r="http://schemas.openxmlformats.org/officeDocument/2006/relationships" type="roundRect" r:blip="">
                        <dgm:adjLst/>
                      </dgm:shape>
                    </dgm:else>
                  </dgm:choose>
                </dgm:if>
                <dgm:else name="Name27">
                  <dgm:shape xmlns:r="http://schemas.openxmlformats.org/officeDocument/2006/relationships" type="roundRect" r:blip="">
                    <dgm:adjLst/>
                  </dgm:shape>
                </dgm:else>
              </dgm:choose>
            </dgm:else>
          </dgm:choose>
          <dgm:presOf axis="self" ptType="node"/>
          <dgm:constrLst>
            <dgm:constr type="lMarg" refType="primFontSz" fact="0.6"/>
            <dgm:constr type="rMarg" refType="primFontSz" fact="0.6"/>
            <dgm:constr type="tMarg" refType="primFontSz" fact="0.6"/>
            <dgm:constr type="bMarg" refType="primFontSz" fact="0.6"/>
          </dgm:constrLst>
          <dgm:ruleLst>
            <dgm:rule type="primFontSz" val="5" fact="NaN" max="NaN"/>
          </dgm:ruleLst>
        </dgm:layoutNode>
        <dgm:layoutNode name="Childtext1" styleLbl="revTx" moveWith="Parent1">
          <dgm:varLst>
            <dgm:chMax val="0"/>
            <dgm:chPref val="0"/>
            <dgm:bulletEnabled/>
          </dgm:varLst>
          <dgm:choose name="casesForTxtDirLogic1">
            <dgm:if name="Name77" axis="self" ptType="node" func="posOdd" op="equ" val="1">
              <dgm:alg type="tx">
                <dgm:param type="txAnchorVert" val="b"/>
                <dgm:param type="txAnchorHorz" val="ctr"/>
                <dgm:param type="parTxRTLAlign" val="ctr"/>
                <dgm:param type="parTxLTRAlign" val="ctr"/>
              </dgm:alg>
            </dgm:if>
            <dgm:else name="Name88">
              <dgm:alg type="tx">
                <dgm:param type="txAnchorVert" val="t"/>
                <dgm:param type="txAnchorHorz" val="ctr"/>
                <dgm:param type="parTxRTLAlign" val="ctr"/>
                <dgm:param type="parTxLTRAlign" val="ctr"/>
              </dgm:alg>
            </dgm:else>
          </dgm:choose>
          <dgm:shape xmlns:r="http://schemas.openxmlformats.org/officeDocument/2006/relationships" type="rect" r:blip="">
            <dgm:adjLst/>
          </dgm:shape>
          <dgm:constrLst>
            <dgm:constr type="lMarg"/>
            <dgm:constr type="rMarg"/>
            <dgm:constr type="tMarg" refType="primFontSz" fact="0"/>
            <dgm:constr type="bMarg" refType="primFontSz" fact="0"/>
          </dgm:constrLst>
          <dgm:presOf axis="ch" ptType="node"/>
          <dgm:ruleLst>
            <dgm:rule type="primFontSz" val="5" fact="NaN" max="NaN"/>
          </dgm:ruleLst>
        </dgm:layoutNode>
        <dgm:layoutNode name="ConnectLine" styleLbl="sibTrans1D1" moveWith="Parent1">
          <dgm:alg type="sp"/>
          <dgm:shape xmlns:r="http://schemas.openxmlformats.org/officeDocument/2006/relationships" type="line" r:blip="">
            <dgm:adjLst/>
            <dgm:extLst>
              <a:ext uri="{B698B0E9-8C71-41B9-8309-B3DCBF30829C}">
                <dgm1612:spPr xmlns:dgm1612="http://schemas.microsoft.com/office/drawing/2016/12/diagram">
                  <a:ln w="9525"/>
                </dgm1612:spPr>
              </a:ext>
            </dgm:extLst>
          </dgm:shape>
          <dgm:presOf/>
          <dgm:constrLst/>
        </dgm:layoutNode>
        <dgm:layoutNode name="EmptyPane" moveWith="Parent1">
          <dgm:alg type="sp"/>
          <dgm:shape xmlns:r="http://schemas.openxmlformats.org/officeDocument/2006/relationships" r:blip="">
            <dgm:adjLst/>
          </dgm:shape>
          <dgm:presOf/>
          <dgm:constrLst/>
        </dgm:layoutNode>
      </dgm:layoutNode>
      <dgm:forEach name="Name28" axis="followSib" ptType="sibTrans" cnt="1">
        <dgm:layoutNode name="spaceBetweenRectangles" styleLbl="fgAcc1">
          <dgm:alg type="conn">
            <dgm:param type="dim" val="1D"/>
            <dgm:param type="srcNode" val="Parent1"/>
            <dgm:param type="dstNode" val="Parent1"/>
            <dgm:param type="begPts" val="midR"/>
            <dgm:param type="endPts" val="midL"/>
            <dgm:param type="endSty" val="noArr"/>
          </dgm:alg>
          <dgm:shape xmlns:r="http://schemas.openxmlformats.org/officeDocument/2006/relationships" type="conn" r:blip="" zOrderOff="-2">
            <dgm:adjLst/>
            <dgm:extLst>
              <a:ext uri="{B698B0E9-8C71-41B9-8309-B3DCBF30829C}">
                <dgm1612:spPr xmlns:dgm1612="http://schemas.microsoft.com/office/drawing/2016/12/diagram">
                  <a:ln w="12700"/>
                </dgm1612:spPr>
              </a:ext>
            </dgm:extLst>
          </dgm:shape>
          <dgm:presOf/>
          <dgm:constrLst>
            <dgm:constr type="connDist"/>
            <dgm:constr type="begPad"/>
            <dgm:constr type="endPad"/>
          </dgm:constrLst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377460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93800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89120" cy="2103120"/>
          </a:xfrm>
        </p:spPr>
        <p:txBody>
          <a:bodyPr anchor="b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3123E-E3E0-5E2A-E1FB-EC28A2C68E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108960"/>
            <a:ext cx="4389120" cy="192024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0A6B95-C59B-C125-7957-8C41B378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367528" cy="52120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8CD2E87-8426-FC12-6665-A6E2F64FEA9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-9525" y="5039331"/>
            <a:ext cx="986377" cy="128016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D35CF771-1335-6C94-6AA8-AF68EADDDF00}"/>
              </a:ext>
            </a:extLst>
          </p:cNvPr>
          <p:cNvSpPr/>
          <p:nvPr userDrawn="1"/>
        </p:nvSpPr>
        <p:spPr>
          <a:xfrm>
            <a:off x="1140014" y="5142797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9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7671816" cy="2103120"/>
          </a:xfrm>
        </p:spPr>
        <p:txBody>
          <a:bodyPr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9296AFE-5FB8-52A4-3111-3B53DBE4DB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200400"/>
            <a:ext cx="10149840" cy="28346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reeform: Shape 12">
            <a:extLst>
              <a:ext uri="{FF2B5EF4-FFF2-40B4-BE49-F238E27FC236}">
                <a16:creationId xmlns:a16="http://schemas.microsoft.com/office/drawing/2014/main" id="{809C5320-0161-C582-141C-55F06D4F3BAE}"/>
              </a:ext>
            </a:extLst>
          </p:cNvPr>
          <p:cNvSpPr/>
          <p:nvPr userDrawn="1"/>
        </p:nvSpPr>
        <p:spPr>
          <a:xfrm>
            <a:off x="8893126" y="35193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9C982F3-4477-76AC-0429-350585A39FFA}"/>
              </a:ext>
            </a:extLst>
          </p:cNvPr>
          <p:cNvSpPr/>
          <p:nvPr userDrawn="1"/>
        </p:nvSpPr>
        <p:spPr>
          <a:xfrm>
            <a:off x="5255120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87A8F7B2-0552-AAD4-9DE2-845DE10CA10A}"/>
              </a:ext>
            </a:extLst>
          </p:cNvPr>
          <p:cNvSpPr/>
          <p:nvPr userDrawn="1"/>
        </p:nvSpPr>
        <p:spPr>
          <a:xfrm>
            <a:off x="6710252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95DA7FF-BAA0-F04C-CA6C-16E9C2D55593}"/>
              </a:ext>
            </a:extLst>
          </p:cNvPr>
          <p:cNvSpPr/>
          <p:nvPr userDrawn="1"/>
        </p:nvSpPr>
        <p:spPr>
          <a:xfrm>
            <a:off x="879765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68D9CEC-53B7-B8DC-B77E-E3F86681879C}"/>
              </a:ext>
            </a:extLst>
          </p:cNvPr>
          <p:cNvSpPr/>
          <p:nvPr userDrawn="1"/>
        </p:nvSpPr>
        <p:spPr>
          <a:xfrm>
            <a:off x="2336512" y="-9525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222D4D6-56B1-C4C3-0E51-FB22F0CD902B}"/>
              </a:ext>
            </a:extLst>
          </p:cNvPr>
          <p:cNvSpPr/>
          <p:nvPr userDrawn="1"/>
        </p:nvSpPr>
        <p:spPr>
          <a:xfrm>
            <a:off x="8160084" y="-10376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E6292F0-9E78-C98C-097B-30DEBBC1B179}"/>
              </a:ext>
            </a:extLst>
          </p:cNvPr>
          <p:cNvSpPr/>
          <p:nvPr userDrawn="1"/>
        </p:nvSpPr>
        <p:spPr>
          <a:xfrm>
            <a:off x="9615216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2">
            <a:extLst>
              <a:ext uri="{FF2B5EF4-FFF2-40B4-BE49-F238E27FC236}">
                <a16:creationId xmlns:a16="http://schemas.microsoft.com/office/drawing/2014/main" id="{315817B3-76DB-FDD0-60F7-E385C0E84F58}"/>
              </a:ext>
            </a:extLst>
          </p:cNvPr>
          <p:cNvSpPr/>
          <p:nvPr userDrawn="1"/>
        </p:nvSpPr>
        <p:spPr>
          <a:xfrm>
            <a:off x="10342958" y="32052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</p:spTree>
    <p:extLst>
      <p:ext uri="{BB962C8B-B14F-4D97-AF65-F5344CB8AC3E}">
        <p14:creationId xmlns:p14="http://schemas.microsoft.com/office/powerpoint/2010/main" val="389171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72" r:id="rId9"/>
    <p:sldLayoutId id="2147483673" r:id="rId10"/>
    <p:sldLayoutId id="2147483653" r:id="rId11"/>
    <p:sldLayoutId id="2147483663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lIns="0" anchor="b" anchorCtr="0"/>
          <a:lstStyle/>
          <a:p>
            <a:r>
              <a:rPr lang="en-US" dirty="0"/>
              <a:t>Proposed Password Management Transition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</p:spPr>
        <p:txBody>
          <a:bodyPr/>
          <a:lstStyle/>
          <a:p>
            <a:r>
              <a:rPr lang="en-US" dirty="0"/>
              <a:t>Jean-Denis Pierre-Louis</a:t>
            </a:r>
          </a:p>
        </p:txBody>
      </p:sp>
      <p:pic>
        <p:nvPicPr>
          <p:cNvPr id="20" name="Picture Placeholder 19" descr="Two people looking at a laptop at a table">
            <a:extLst>
              <a:ext uri="{FF2B5EF4-FFF2-40B4-BE49-F238E27FC236}">
                <a16:creationId xmlns:a16="http://schemas.microsoft.com/office/drawing/2014/main" id="{E83BB08F-E403-8715-0B24-AD9E4B72C80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3" r="23"/>
          <a:stretch/>
        </p:blipFill>
        <p:spPr>
          <a:xfrm>
            <a:off x="6742557" y="821836"/>
            <a:ext cx="4405503" cy="5066346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 anchorCtr="0"/>
          <a:lstStyle/>
          <a:p>
            <a:r>
              <a:rPr lang="en-US" dirty="0"/>
              <a:t>Agenda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746B3-AFD9-641E-7CBF-9A783646B36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t" anchorCtr="0">
            <a:normAutofit fontScale="70000" lnSpcReduction="20000"/>
          </a:bodyPr>
          <a:lstStyle/>
          <a:p>
            <a:r>
              <a:rPr lang="en-US" dirty="0"/>
              <a:t>Password Management Overview</a:t>
            </a:r>
          </a:p>
          <a:p>
            <a:r>
              <a:rPr lang="en-US" dirty="0"/>
              <a:t>Business Problem</a:t>
            </a:r>
          </a:p>
          <a:p>
            <a:r>
              <a:rPr lang="en-US" dirty="0"/>
              <a:t>Proposed Solution</a:t>
            </a:r>
          </a:p>
          <a:p>
            <a:r>
              <a:rPr lang="en-US" dirty="0"/>
              <a:t>Expected Operational Benefits</a:t>
            </a:r>
          </a:p>
          <a:p>
            <a:r>
              <a:rPr lang="en-US" dirty="0"/>
              <a:t>Key Risks and Migration Consideration</a:t>
            </a:r>
          </a:p>
          <a:p>
            <a:r>
              <a:rPr lang="en-US" dirty="0"/>
              <a:t>Timeline</a:t>
            </a:r>
          </a:p>
          <a:p>
            <a:r>
              <a:rPr lang="en-US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/>
          <a:lstStyle/>
          <a:p>
            <a:r>
              <a:rPr lang="en-US" dirty="0"/>
              <a:t>Password Management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90503-C2C6-37F4-4636-9B4A8A3DE4E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</p:spPr>
        <p:txBody>
          <a:bodyPr/>
          <a:lstStyle/>
          <a:p>
            <a:r>
              <a:rPr lang="en-US" dirty="0"/>
              <a:t>Navigating the future</a:t>
            </a:r>
          </a:p>
        </p:txBody>
      </p:sp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  <a:noFill/>
        </p:spPr>
        <p:txBody>
          <a:bodyPr>
            <a:normAutofit/>
          </a:bodyPr>
          <a:lstStyle/>
          <a:p>
            <a:r>
              <a:rPr lang="en-US" dirty="0"/>
              <a:t>Delays accessing credentials required for support</a:t>
            </a:r>
          </a:p>
          <a:p>
            <a:r>
              <a:rPr lang="en-US" dirty="0"/>
              <a:t>Inconsistent credential-management practices</a:t>
            </a:r>
          </a:p>
          <a:p>
            <a:r>
              <a:rPr lang="en-US" dirty="0"/>
              <a:t>Excessive or inappropriate access to sensitive credentials</a:t>
            </a:r>
          </a:p>
          <a:p>
            <a:r>
              <a:rPr lang="en-US" dirty="0"/>
              <a:t>Difficulty maintaining visibility into credential ownership and access</a:t>
            </a:r>
          </a:p>
          <a:p>
            <a:r>
              <a:rPr lang="en-US" dirty="0"/>
              <a:t>Additional operational burden for the Service Desk and IT teams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61EC-5F42-6AB8-DF35-480F0702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lIns="0" anchor="t" anchorCtr="0"/>
          <a:lstStyle/>
          <a:p>
            <a:r>
              <a:rPr lang="en-US" dirty="0"/>
              <a:t>Proposed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99339-FABF-04A2-4090-C38B947B2B8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</p:spPr>
        <p:txBody>
          <a:bodyPr anchor="b" anchorCtr="0"/>
          <a:lstStyle/>
          <a:p>
            <a:r>
              <a:rPr lang="en-US" dirty="0"/>
              <a:t>Unlocking new horizons</a:t>
            </a:r>
          </a:p>
        </p:txBody>
      </p:sp>
      <p:pic>
        <p:nvPicPr>
          <p:cNvPr id="12" name="Picture Placeholder 11" descr="A person sitting at their deck and a person walking to their desk">
            <a:extLst>
              <a:ext uri="{FF2B5EF4-FFF2-40B4-BE49-F238E27FC236}">
                <a16:creationId xmlns:a16="http://schemas.microsoft.com/office/drawing/2014/main" id="{7372550F-E2C0-2C0B-0ABA-5672CEBF71D0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2"/>
          <a:srcRect l="10" r="10"/>
          <a:stretch/>
        </p:blipFill>
        <p:spPr>
          <a:xfrm>
            <a:off x="7493157" y="529148"/>
            <a:ext cx="4248873" cy="4731130"/>
          </a:xfrm>
        </p:spPr>
      </p:pic>
    </p:spTree>
    <p:extLst>
      <p:ext uri="{BB962C8B-B14F-4D97-AF65-F5344CB8AC3E}">
        <p14:creationId xmlns:p14="http://schemas.microsoft.com/office/powerpoint/2010/main" val="2735087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</p:spPr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4800F032-5102-94C2-865C-AE9D448B2744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5C5013-A563-C783-9185-9C847D4B4A4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6</a:t>
            </a:fld>
            <a:endParaRPr lang="en-US" altLang="zh-CN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F20413-D4F6-BB0C-1723-6BD2C3F46A48}"/>
              </a:ext>
            </a:extLst>
          </p:cNvPr>
          <p:cNvSpPr>
            <a:spLocks noGrp="1"/>
          </p:cNvSpPr>
          <p:nvPr>
            <p:ph idx="3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Credentials could be organized into appropriate collections and access groups for areas such as:</a:t>
            </a:r>
          </a:p>
          <a:p>
            <a:r>
              <a:rPr lang="en-US" dirty="0"/>
              <a:t>Servers and infrastructure</a:t>
            </a:r>
          </a:p>
          <a:p>
            <a:r>
              <a:rPr lang="en-US" dirty="0"/>
              <a:t>Local administrator accounts</a:t>
            </a:r>
          </a:p>
          <a:p>
            <a:r>
              <a:rPr lang="en-US" dirty="0"/>
              <a:t>Service accounts</a:t>
            </a:r>
          </a:p>
          <a:p>
            <a:r>
              <a:rPr lang="en-US" dirty="0"/>
              <a:t>Intune and endpoint administration</a:t>
            </a:r>
          </a:p>
          <a:p>
            <a:r>
              <a:rPr lang="en-US" dirty="0"/>
              <a:t>Applications and systems</a:t>
            </a:r>
          </a:p>
          <a:p>
            <a:r>
              <a:rPr lang="en-US" dirty="0"/>
              <a:t>Other credentials required for IT support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6B7C2D-998A-7E2C-326C-C44FEA967BB2}"/>
              </a:ext>
            </a:extLst>
          </p:cNvPr>
          <p:cNvSpPr txBox="1"/>
          <p:nvPr/>
        </p:nvSpPr>
        <p:spPr>
          <a:xfrm>
            <a:off x="7134233" y="731520"/>
            <a:ext cx="4059936" cy="147732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Role-based access could allow employees to receive only the credentials necessary for their responsibilities.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1800" dirty="0">
              <a:solidFill>
                <a:schemeClr val="bg1"/>
              </a:solidFill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 anchorCtr="0"/>
          <a:lstStyle/>
          <a:p>
            <a:r>
              <a:rPr lang="en-US" dirty="0"/>
              <a:t>Expected Operational Benefits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/>
          <a:p>
            <a:r>
              <a:rPr lang="en-US" b="1" i="1" dirty="0"/>
              <a:t>Improved Access Control</a:t>
            </a:r>
          </a:p>
          <a:p>
            <a:r>
              <a:rPr lang="en-US" b="1" i="1" dirty="0"/>
              <a:t>Stronger Offboarding Controls</a:t>
            </a:r>
          </a:p>
          <a:p>
            <a:r>
              <a:rPr lang="en-US" b="1" i="1" dirty="0"/>
              <a:t>Simplified Onboarding</a:t>
            </a:r>
          </a:p>
          <a:p>
            <a:r>
              <a:rPr lang="en-US" b="1" i="1" dirty="0"/>
              <a:t>Increased Accountability</a:t>
            </a:r>
          </a:p>
          <a:p>
            <a:r>
              <a:rPr lang="en-US" b="1" i="1" dirty="0"/>
              <a:t>Reduced Service Desk Friction</a:t>
            </a:r>
          </a:p>
          <a:p>
            <a:r>
              <a:rPr lang="en-US" b="1" i="1" dirty="0"/>
              <a:t>Reduced Vendor Dependency</a:t>
            </a:r>
          </a:p>
        </p:txBody>
      </p:sp>
      <p:pic>
        <p:nvPicPr>
          <p:cNvPr id="12" name="Picture Placeholder 11" descr="Three people having a discussion at a table">
            <a:extLst>
              <a:ext uri="{FF2B5EF4-FFF2-40B4-BE49-F238E27FC236}">
                <a16:creationId xmlns:a16="http://schemas.microsoft.com/office/drawing/2014/main" id="{8C4B5C6A-45B4-1976-622A-4CEB4E3211BC}"/>
              </a:ext>
            </a:extLst>
          </p:cNvPr>
          <p:cNvPicPr>
            <a:picLocks noGrp="1" noChangeAspect="1"/>
          </p:cNvPicPr>
          <p:nvPr>
            <p:ph type="pic" sz="quarter" idx="54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753"/>
                    </a14:imgEffect>
                    <a14:imgEffect>
                      <a14:saturation sat="133000"/>
                    </a14:imgEffect>
                    <a14:imgEffect>
                      <a14:brightnessContrast bright="4000" contrast="3000"/>
                    </a14:imgEffect>
                  </a14:imgLayer>
                </a14:imgProps>
              </a:ext>
            </a:extLst>
          </a:blip>
          <a:srcRect l="18665" r="18665"/>
          <a:stretch/>
        </p:blipFill>
        <p:spPr>
          <a:xfrm>
            <a:off x="5745002" y="0"/>
            <a:ext cx="6446999" cy="6858000"/>
          </a:xfrm>
        </p:spPr>
      </p:pic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6B3DA3-995E-263F-F271-D0DCB60A6118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857220"/>
            <a:ext cx="8997696" cy="795528"/>
          </a:xfrm>
        </p:spPr>
        <p:txBody>
          <a:bodyPr/>
          <a:lstStyle/>
          <a:p>
            <a:r>
              <a:rPr lang="en-US" dirty="0"/>
              <a:t>Key Risks and Migration Considerations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520E98B6-7B33-8FD4-A662-31DD4B85E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59"/>
            <a:ext cx="3291840" cy="3106705"/>
          </a:xfrm>
        </p:spPr>
        <p:txBody>
          <a:bodyPr>
            <a:normAutofit/>
          </a:bodyPr>
          <a:lstStyle/>
          <a:p>
            <a:r>
              <a:rPr lang="en-US" dirty="0"/>
              <a:t>Existing IT Glue data may contain outdated, duplicate, incomplete, or incorrectly categorized credentials.  </a:t>
            </a:r>
          </a:p>
          <a:p>
            <a:r>
              <a:rPr lang="en-US" dirty="0"/>
              <a:t>Initial review of the Global Administrator-side export process indicated an apparent limit of approximately 2,500 passwords per export. 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78466807-A2DA-EC5D-ACDE-B83D6F7169EA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336499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- Protecting credential exports during migration</a:t>
            </a:r>
          </a:p>
          <a:p>
            <a:r>
              <a:rPr lang="en-US" dirty="0"/>
              <a:t>- Securely deleting temporary migration files</a:t>
            </a:r>
          </a:p>
          <a:p>
            <a:r>
              <a:rPr lang="en-US" dirty="0"/>
              <a:t>- Converting exported data into the approved </a:t>
            </a:r>
            <a:r>
              <a:rPr lang="en-US" dirty="0" err="1"/>
              <a:t>Bitwarden</a:t>
            </a:r>
            <a:r>
              <a:rPr lang="en-US" dirty="0"/>
              <a:t> import format</a:t>
            </a:r>
          </a:p>
          <a:p>
            <a:r>
              <a:rPr lang="en-US" dirty="0"/>
              <a:t>- Preventing duplicate or outdated credentials from overwriting current information</a:t>
            </a:r>
          </a:p>
          <a:p>
            <a:r>
              <a:rPr lang="en-US" dirty="0"/>
              <a:t>- Validating credentials and permissions before retiring IT Glue</a:t>
            </a:r>
          </a:p>
          <a:p>
            <a:r>
              <a:rPr lang="en-US" dirty="0"/>
              <a:t>- Establishing appropriate groups, collections, and access policies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30FF33C-2E3C-37EC-75C2-1BE4513D9B62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2DE72-77CB-CB24-A4D1-2FAC47307AC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8</a:t>
            </a:fld>
            <a:endParaRPr lang="en-US" altLang="zh-CN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178600-48A3-C965-A3E9-B6921BF549B6}"/>
              </a:ext>
            </a:extLst>
          </p:cNvPr>
          <p:cNvSpPr txBox="1"/>
          <p:nvPr/>
        </p:nvSpPr>
        <p:spPr>
          <a:xfrm>
            <a:off x="4498086" y="2551176"/>
            <a:ext cx="3805428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Additional considerations include</a:t>
            </a:r>
            <a:endParaRPr lang="en-US" sz="2000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9A7A-9235-69B3-F7A6-DCB363034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7671816" cy="2103120"/>
          </a:xfrm>
        </p:spPr>
        <p:txBody>
          <a:bodyPr anchor="b">
            <a:normAutofit/>
          </a:bodyPr>
          <a:lstStyle/>
          <a:p>
            <a:r>
              <a:rPr lang="en-US"/>
              <a:t>Timeline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26218399-9234-1AF3-1F50-15D57014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graphicFrame>
        <p:nvGraphicFramePr>
          <p:cNvPr id="5" name="Diagram 4" descr="Basic Timeline">
            <a:extLst>
              <a:ext uri="{FF2B5EF4-FFF2-40B4-BE49-F238E27FC236}">
                <a16:creationId xmlns:a16="http://schemas.microsoft.com/office/drawing/2014/main" id="{FE55421A-10D3-D95C-B900-EC68E53457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4278224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914400" y="3200400"/>
          <a:ext cx="10149840" cy="2834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627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 anchorCtr="0"/>
          <a:lstStyle/>
          <a:p>
            <a:r>
              <a:rPr lang="en-US" dirty="0"/>
              <a:t>Conclusion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78180D0-1AB6-8416-0EB1-10648E1A605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08576" y="3106705"/>
            <a:ext cx="4572000" cy="310896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Dedicated credential-management platform that is better aligned with identity-based access control and employee lifecycle management.</a:t>
            </a:r>
          </a:p>
          <a:p>
            <a:r>
              <a:rPr lang="en-US" dirty="0"/>
              <a:t>The strongest opportunity is to evaluate </a:t>
            </a:r>
            <a:r>
              <a:rPr lang="en-US" dirty="0" err="1"/>
              <a:t>Bitwarden</a:t>
            </a:r>
            <a:r>
              <a:rPr lang="en-US" dirty="0"/>
              <a:t> as part of a broader onboarding, access-management, and offboarding workflow, rather than simply replacing IT Glue with another password vault.</a:t>
            </a:r>
          </a:p>
          <a:p>
            <a:r>
              <a:rPr lang="en-US" dirty="0"/>
              <a:t>Allow the organization to validate security requirements, data quality, migration effort, user access, and onboarding/offboarding workflows before committing to a full migration.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E4D147-B48C-ADE3-3FEF-627D467699A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10</a:t>
            </a:fld>
            <a:endParaRPr lang="en-US" altLang="zh-CN" noProof="0" dirty="0"/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55AB7753-4245-72E4-BEDB-33038672BA35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{AFA42FE0-EA6F-41EE-82AE-C353A2755240}TF63aebcec-8e39-4664-940a-dd6c2f00c54d020a9832_win32-3cdd3ee32610</Template>
  <TotalTime>1876</TotalTime>
  <Words>448</Words>
  <Application>Microsoft Office PowerPoint</Application>
  <PresentationFormat>Widescreen</PresentationFormat>
  <Paragraphs>79</Paragraphs>
  <Slides>11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Custom</vt:lpstr>
      <vt:lpstr>Proposed Password Management Transition</vt:lpstr>
      <vt:lpstr>Agenda </vt:lpstr>
      <vt:lpstr>Password Management Overview</vt:lpstr>
      <vt:lpstr>Business Problem</vt:lpstr>
      <vt:lpstr>Proposed Solution</vt:lpstr>
      <vt:lpstr>Proposed Solution</vt:lpstr>
      <vt:lpstr>Expected Operational Benefits</vt:lpstr>
      <vt:lpstr>Key Risks and Migration Considerations</vt:lpstr>
      <vt:lpstr>Timeline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Jean-Denis Pierre-Louis</dc:creator>
  <cp:lastModifiedBy>Jean-Denis Pierre-Louis</cp:lastModifiedBy>
  <cp:revision>2</cp:revision>
  <dcterms:created xsi:type="dcterms:W3CDTF">2026-09-09T13:23:17Z</dcterms:created>
  <dcterms:modified xsi:type="dcterms:W3CDTF">2026-10-02T20:00:27Z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